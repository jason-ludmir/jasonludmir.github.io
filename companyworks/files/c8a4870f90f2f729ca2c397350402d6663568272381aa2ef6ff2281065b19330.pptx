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on_time_flag</c:v>
                </c:pt>
              </c:strCache>
            </c:strRef>
          </c:tx>
          <c:cat>
            <c:strRef>
              <c:f>Sheet1!$A$2:$A$9</c:f>
              <c:strCache>
                <c:ptCount val="8"/>
                <c:pt idx="0">
                  <c:v>2026-01</c:v>
                </c:pt>
                <c:pt idx="1">
                  <c:v>2026-02</c:v>
                </c:pt>
                <c:pt idx="2">
                  <c:v>2026-03</c:v>
                </c:pt>
                <c:pt idx="3">
                  <c:v>2026-04</c:v>
                </c:pt>
                <c:pt idx="4">
                  <c:v>2026-05</c:v>
                </c:pt>
                <c:pt idx="5">
                  <c:v>2026-06</c:v>
                </c:pt>
                <c:pt idx="6">
                  <c:v>2026-07</c:v>
                </c:pt>
                <c:pt idx="7">
                  <c:v>2026-08</c:v>
                </c:pt>
              </c:strCache>
            </c:strRef>
          </c:cat>
          <c:val>
            <c:numRef>
              <c:f>Sheet1!$B$2:$B$9</c:f>
              <c:numCache>
                <c:formatCode>General</c:formatCode>
                <c:ptCount val="8"/>
                <c:pt idx="0">
                  <c:v>13</c:v>
                </c:pt>
                <c:pt idx="1">
                  <c:v>46</c:v>
                </c:pt>
                <c:pt idx="2">
                  <c:v>43</c:v>
                </c:pt>
                <c:pt idx="3">
                  <c:v>53</c:v>
                </c:pt>
                <c:pt idx="4">
                  <c:v>52</c:v>
                </c:pt>
                <c:pt idx="5">
                  <c:v>70</c:v>
                </c:pt>
                <c:pt idx="6">
                  <c:v>70</c:v>
                </c:pt>
                <c:pt idx="7">
                  <c:v>75</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SOP asks for four oversight measures. We have three this time: timeliness, review outcomes and quality events.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January is a small month (17 items) and includes two data transfers that were superseded.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Tessaro's late records cluster around the LRT-4051 campaign; raise at the October business review.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External Partner Performance Review — Q3 2026 Interim</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Interim Q3 2026 review of external partner performance for the outsourcing steering group (Clinical Operations, CMC, QA and Finance), September 22, 2026. Deliverables due January to August, status as of September 18. Purpose: agree follow-up actions before the Q4 oversight reviews.</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Loblolly Ridge Therapeutics | Outsourcing &amp; Procurement | 2026-09-22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Scope and data window</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493 contracted deliverables due January to August 2026, from the deliverables tracker. Work orders and partner tiers from the register as of September 18: 97 active or pending work orders with $116.6 million of committed services.</a:t>
            </a:r>
          </a:p>
          <a:p>
            <a:pPr>
              <a:spcAft>
                <a:spcPts val="1200"/>
              </a:spcAft>
              <a:defRPr sz="2100"/>
            </a:pPr>
            <a:r>
              <a:t> Invoice accuracy is not reported this quarter; the Finance extract was not ready.</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Loblolly Ridge Therapeutics | Outsourcing &amp; Procurement | 2026-09-22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Scope and data window · extract summary</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Measure: committed_usd</a:t>
            </a:r>
          </a:p>
          <a:p>
            <a:pPr>
              <a:spcAft>
                <a:spcPts val="1200"/>
              </a:spcAft>
              <a:defRPr sz="2100"/>
            </a:pPr>
            <a:r>
              <a:t>Unit: USD</a:t>
            </a:r>
          </a:p>
          <a:p>
            <a:pPr>
              <a:spcAft>
                <a:spcPts val="1200"/>
              </a:spcAft>
              <a:defRPr sz="2100"/>
            </a:pPr>
            <a:r>
              <a:t>Total: 128091000.0</a:t>
            </a:r>
          </a:p>
          <a:p>
            <a:pPr>
              <a:spcAft>
                <a:spcPts val="1200"/>
              </a:spcAft>
              <a:defRPr sz="2100"/>
            </a:pPr>
            <a:r>
              <a:t>Mean: 1164463.6364</a:t>
            </a:r>
          </a:p>
          <a:p>
            <a:pPr>
              <a:spcAft>
                <a:spcPts val="1200"/>
              </a:spcAft>
              <a:defRPr sz="2100"/>
            </a:pPr>
            <a:r>
              <a:t>Records: 110</a:t>
            </a:r>
          </a:p>
          <a:p>
            <a:pPr>
              <a:spcAft>
                <a:spcPts val="1200"/>
              </a:spcAft>
              <a:defRPr sz="2100"/>
            </a:pPr>
            <a:r>
              <a:t>Period: 2023-01-01 to 2026-09-18</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Loblolly Ridge Therapeutics | Outsourcing &amp; Procurement | 2026-09-22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Scope and data window · extract summary</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Measure: pass_through_estimate_usd</a:t>
            </a:r>
          </a:p>
          <a:p>
            <a:pPr>
              <a:spcAft>
                <a:spcPts val="1200"/>
              </a:spcAft>
              <a:defRPr sz="2100"/>
            </a:pPr>
            <a:r>
              <a:t>Unit: USD</a:t>
            </a:r>
          </a:p>
          <a:p>
            <a:pPr>
              <a:spcAft>
                <a:spcPts val="1200"/>
              </a:spcAft>
              <a:defRPr sz="2100"/>
            </a:pPr>
            <a:r>
              <a:t>Total: 38660000.0</a:t>
            </a:r>
          </a:p>
          <a:p>
            <a:pPr>
              <a:spcAft>
                <a:spcPts val="1200"/>
              </a:spcAft>
              <a:defRPr sz="2100"/>
            </a:pPr>
            <a:r>
              <a:t>Mean: 2416250.0</a:t>
            </a:r>
          </a:p>
          <a:p>
            <a:pPr>
              <a:spcAft>
                <a:spcPts val="1200"/>
              </a:spcAft>
              <a:defRPr sz="2100"/>
            </a:pPr>
            <a:r>
              <a:t>Records: 16</a:t>
            </a:r>
          </a:p>
          <a:p>
            <a:pPr>
              <a:spcAft>
                <a:spcPts val="1200"/>
              </a:spcAft>
              <a:defRPr sz="2100"/>
            </a:pPr>
            <a:r>
              <a:t>Period: 2023-01-01 to 2026-09-18</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Loblolly Ridge Therapeutics | Outsourcing &amp; Procurement | 2026-09-22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Overall timeliness: 87% on time</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487 of 493 received; 87% on or before the due date; 14 returned for revision; 6 not received. Monthly on-time share ranged from 76% in January to 91% in May and June. The chart counts on-time deliverables by due month.</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Loblolly Ridge Therapeutics | Outsourcing &amp; Procurement | 2026-09-22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Overall timeliness: 87% on time · flag</a:t>
            </a:r>
          </a:p>
        </p:txBody>
      </p:sp>
      <p:sp>
        <p:nvSpPr>
          <p:cNvPr id="3" name="TextBox 2"/>
          <p:cNvSpPr txBox="1"/>
          <p:nvPr/>
        </p:nvSpPr>
        <p:spPr>
          <a:xfrm>
            <a:off x="640080" y="6263640"/>
            <a:ext cx="10972800" cy="274320"/>
          </a:xfrm>
          <a:prstGeom prst="rect">
            <a:avLst/>
          </a:prstGeom>
          <a:noFill/>
        </p:spPr>
        <p:txBody>
          <a:bodyPr wrap="none">
            <a:spAutoFit/>
          </a:bodyPr>
          <a:lstStyle/>
          <a:p>
            <a:pPr>
              <a:defRPr sz="1000"/>
            </a:pPr>
            <a:r>
              <a:t>Loblolly Ridge Therapeutics | Outsourcing &amp; Procurement | 2026-09-22 | 6</a:t>
            </a:r>
          </a:p>
        </p:txBody>
      </p:sp>
      <p:graphicFrame>
        <p:nvGraphicFramePr>
          <p:cNvPr id="4" name="Chart 3"/>
          <p:cNvGraphicFramePr>
            <a:graphicFrameLocks noGrp="1"/>
          </p:cNvGraphicFramePr>
          <p:nvPr/>
        </p:nvGraphicFramePr>
        <p:xfrm>
          <a:off x="731520" y="1554480"/>
          <a:ext cx="10515600" cy="4297680"/>
        </p:xfrm>
        <a:graphic>
          <a:graphicData uri="http://schemas.openxmlformats.org/drawingml/2006/chart">
            <c:chart xmlns:c="http://schemas.openxmlformats.org/drawingml/2006/chart" r:id="rId2"/>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Exception 1 – CDMO executed batch records</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Executed batch records were on time for 9 of 16 (56%). Tessaro delivered 4 of 8 on time and Hanlin 0 of 2; Northgate delivered 5 of 6. Batch records gate QA release, so late records delay supply and the LRT-4051 GMP API.</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Loblolly Ridge Therapeutics | Outsourcing &amp; Procurement | 2026-09-22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Exception 2 – final study reports</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Final study reports were on time for 15 of 24 (62%). Alder Bioanalytical delivered 3 of 8 on time; its overall on-time share across 55 deliverables is 78%, the lowest among high-volume partners. Alder now also takes discovery overflow, so the load is rising.</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Loblolly Ridge Therapeutics | Outsourcing &amp; Procurement | 2026-09-22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Backup API supplier</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Hanlin Pharmatech delivered 9 of 15 qualification-batch deliverables on time. Its audit response has not yet been accepted and the qualification batch is forecast for February 2027. QA leads the follow-up; this group tracks timeliness only.</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Loblolly Ridge Therapeutics | Outsourcing &amp; Procurement | 2026-09-22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Review workload</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Median review time after receipt: QA 6 days, Finance 3 days, technical 4 days. QA reviews certificates of analysis, batch records, stability results and final study reports.</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Loblolly Ridge Therapeutics | Outsourcing &amp; Procurement | 2026-09-22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Actions and owners</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Tessaro: agree batch-record turnaround target at the October business review – CMC &amp; Clinical Supply.</a:t>
            </a:r>
          </a:p>
          <a:p>
            <a:pPr>
              <a:spcAft>
                <a:spcPts val="1200"/>
              </a:spcAft>
              <a:defRPr sz="2100"/>
            </a:pPr>
            <a:r>
              <a:t> Alder: capacity and report-writing plan for Q4 – DMPK &amp; Bioanalytical with Outsourcing.</a:t>
            </a:r>
          </a:p>
          <a:p>
            <a:pPr>
              <a:spcAft>
                <a:spcPts val="1200"/>
              </a:spcAft>
              <a:defRPr sz="2100"/>
            </a:pPr>
            <a:r>
              <a:t> Hanlin: timeliness review at the next qualification checkpoint – CMC &amp; Clinical Supply.</a:t>
            </a:r>
          </a:p>
          <a:p>
            <a:pPr>
              <a:spcAft>
                <a:spcPts val="1200"/>
              </a:spcAft>
              <a:defRPr sz="2100"/>
            </a:pPr>
            <a:r>
              <a:t> Invoice accuracy measure for Q4 reviews – Finance.</a:t>
            </a:r>
          </a:p>
          <a:p>
            <a:pPr>
              <a:spcAft>
                <a:spcPts val="1200"/>
              </a:spcAft>
              <a:defRPr sz="2100"/>
            </a:pPr>
            <a:r>
              <a:t> Confirm audit dates for 8 partners due by December 31 – QA.</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Loblolly Ridge Therapeutics | Outsourcing &amp; Procurement | 2026-09-22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Audits due by year end</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8 partners have a routine audit or qualification follow-up due by December 31: Alder Bioanalytical, Aster Archive Services, Northgate Pharma Services, Brookmoor Analytical, Oakmont Statistical Programming, Harborview DSMB Services, Inkwell Medical Writing and Linden Biostatistics.</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Loblolly Ridge Therapeutics | Outsourcing &amp; Procurement | 2026-09-22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Data limitations</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Timeliness counts a deliverable as on time or late regardless of how late; a batch record one day late counts the same as one a month late. Deliverables due after August are excluded. Quality events are reported by QA separately and are not joined to deliverables in this extract.</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Loblolly Ridge Therapeutics | Outsourcing &amp; Procurement | 2026-09-22 |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