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actual_usd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68622326.23</c:v>
                </c:pt>
                <c:pt idx="1">
                  <c:v>71111198.71</c:v>
                </c:pt>
                <c:pt idx="2">
                  <c:v>78218654.54</c:v>
                </c:pt>
                <c:pt idx="3">
                  <c:v>79691603.85</c:v>
                </c:pt>
                <c:pt idx="4">
                  <c:v>75479954.91</c:v>
                </c:pt>
                <c:pt idx="5">
                  <c:v>92109596.56</c:v>
                </c:pt>
                <c:pt idx="6">
                  <c:v>108148859.07</c:v>
                </c:pt>
                <c:pt idx="7">
                  <c:v>109617806.13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Excludes Harbor North until it is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Capital Program Overview 2026-2030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Capital program overview, 2026-2030, September 22, 2026. The five-year outlook, 2026 status at the August close and how capital is recovered. Prepared by Capital Portfolio and FP&amp;A for the executive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Capital Portfolio Office with FP&amp;A | 2026-09-22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Five-year outlook: about $6.10 billion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2026: $1.12 billion</a:t>
            </a:r>
          </a:p>
          <a:p>
            <a:pPr>
              <a:spcAft>
                <a:spcPts val="1200"/>
              </a:spcAft>
              <a:defRPr sz="2100"/>
            </a:pPr>
            <a:r>
              <a:t> 2027: $1.18 billion</a:t>
            </a:r>
          </a:p>
          <a:p>
            <a:pPr>
              <a:spcAft>
                <a:spcPts val="1200"/>
              </a:spcAft>
              <a:defRPr sz="2100"/>
            </a:pPr>
            <a:r>
              <a:t> 2028: $1.24 billion</a:t>
            </a:r>
          </a:p>
          <a:p>
            <a:pPr>
              <a:spcAft>
                <a:spcPts val="1200"/>
              </a:spcAft>
              <a:defRPr sz="2100"/>
            </a:pPr>
            <a:r>
              <a:t> 2029: $1.26 billion</a:t>
            </a:r>
          </a:p>
          <a:p>
            <a:pPr>
              <a:spcAft>
                <a:spcPts val="1200"/>
              </a:spcAft>
              <a:defRPr sz="2100"/>
            </a:pPr>
            <a:r>
              <a:t> 2030: $1.30 billion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Capital Portfolio Office with FP&amp;A | 2026-09-22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About 83% electric (new service and growth, transmission, reliability and resiliency), about 14% gas (pipe replacement, reinforcement and new business) and the rest shared IT and facilities.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Capital Portfolio Office with FP&amp;A | 2026-09-22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2026 at the August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Budget $1,120 million across 152 projects; actual $683.0 million (61%); forecast $1,108 million. Electric $930M budget / $570.4M actual / $920M forecast; Gas $150M / $92.8M / $150M; Shared $40M / $19.8M / $38M.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Capital Portfolio Office with FP&amp;A | 2026-09-22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Largest 2026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Growth - new service $248M</a:t>
            </a:r>
          </a:p>
          <a:p>
            <a:pPr>
              <a:spcAft>
                <a:spcPts val="1200"/>
              </a:spcAft>
              <a:defRPr sz="2100"/>
            </a:pPr>
            <a:r>
              <a:t> Transmission $142M</a:t>
            </a:r>
          </a:p>
          <a:p>
            <a:pPr>
              <a:spcAft>
                <a:spcPts val="1200"/>
              </a:spcAft>
              <a:defRPr sz="2100"/>
            </a:pPr>
            <a:r>
              <a:t> Growth - substation and feeder $131M</a:t>
            </a:r>
          </a:p>
          <a:p>
            <a:pPr>
              <a:spcAft>
                <a:spcPts val="1200"/>
              </a:spcAft>
              <a:defRPr sz="2100"/>
            </a:pPr>
            <a:r>
              <a:t> Reliability - distribution $118M</a:t>
            </a:r>
          </a:p>
          <a:p>
            <a:pPr>
              <a:spcAft>
                <a:spcPts val="1200"/>
              </a:spcAft>
              <a:defRPr sz="2100"/>
            </a:pPr>
            <a:r>
              <a:t> Gas - pipe replacement $78M</a:t>
            </a:r>
          </a:p>
          <a:p>
            <a:pPr>
              <a:spcAft>
                <a:spcPts val="1200"/>
              </a:spcAft>
              <a:defRPr sz="2100"/>
            </a:pPr>
            <a:r>
              <a:t> Resiliency - pole replacement $62M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Capital Portfolio Office with FP&amp;A | 2026-09-22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Monthly capital spend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Actual capital by month, January-August 2026: from $68.6 million in January to $109.6 million in August.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Capital Portfolio Office with FP&amp;A | 2026-09-22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Monthly capital spend · USD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Capital Portfolio Office with FP&amp;A | 2026-09-22 | 7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515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Resiliency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2026 resiliency budget $196 million; $109.0 million spent; forecast $180 million because undergrounding is forecast at $26 million against $42 million.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Capital Portfolio Office with FP&amp;A | 2026-09-22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Growth and large 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11 large-load requests of 20 MW or more total 1,905 MW (10 active, 1,785 MW). Harbor North (estimated $85 million, $6.5 million in 2026 for design and long-lead equipment) is outside the outlook until approved.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Capital Portfolio Office with FP&amp;A | 2026-09-22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Electric: base rates plus DCRF and TCOS updates. Gas: base rates plus annual interim rate adjustments. Resiliency costs follow the plan order. Rate base at December 31, 2025: about $4.62 billion electric and $1.18 billion gas.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Capital Portfolio Office with FP&amp;A | 2026-09-22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Five stages from Initiate to Closeout; projects above $50 million need board approval.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Capital Portfolio Office with FP&amp;A | 2026-09-22 |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