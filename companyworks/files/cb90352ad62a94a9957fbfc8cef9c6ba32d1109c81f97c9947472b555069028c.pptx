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operating boundary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decision owners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daily field-to-ledger path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work-order route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project authorization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the what the client extract can show point; avoid claims beyond the cited operating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Operating footprint and responsibilities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 working orientation to Mesa Lantern Energy, its two modeled districts, the functions that own records, and the limits of this initial handoff. This draft is prepared for engagement team as part of Mesa Lantern Energy's initial information handoff. It describes the modeled operation at the stated date and should be read with the period and coverage of its supporting records.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Field Operations | 2026-09-26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Purpose and immediate use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Use the district and pad view to orient interviews. Field Operations can explain readings and site work; Production Accounting owns reviewed volumes; Asset Integrity owns the response to equipment findings. The four pads illustrate the scenario footprint rather than exhaustively listing every producing site. A location label in an extract should be resolved to the correct district before comparing activity.</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Field Operations | 2026-09-26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Operating boundary</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Mesa Lantern Energy is modeled as a private onshore operator with two districts: High Plains in western Oklahoma and Red Mesa in the Texas Panhandle. Four named pads stand for the field footprint in this pilot. The 118 producing wells, roughly 16,400 boe per day, and 74 employees describe the modeled business at the reference date; they are planning context, not measurements from the supplied extracts.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Field Operations | 2026-09-26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Decision owners</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Field Operations is led by Avery Collins. Robin Vega is accountable for production accounting, Morgan Hale for asset integrity, Taylor Kim for development projects, and Casey Nolan for supply and contractor records. These assignments identify who can explain a record or approve a correction. They do not imply that one person performs every underlying field task or that another team may change a source record without its owner.</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Field Operations | 2026-09-26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Daily field-to-ledger path</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Field operators enter well readings in Field Log by the next morning. Production Accounting compares those entries with Meter Historian readings, records exceptions, and posts reviewed values to Production Ledger. A correction preserves the first entry and a reason for the change. The review path matters because a later extract should be traceable to the reading and decision that produced it.</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Field Operations | 2026-09-26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Work-order route</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A field request is tied to an asset and location. The integrity lead prioritizes it, and a supervisor confirms isolation and contractor readiness where needed. Completion is not inferred from a planned date: closeout requires a completion date, downtime record, and verifier. That sequence supports a distinction between an open request, work in progress, and a verified closed order.</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Field Operations | 2026-09-26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Project authorization</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Projects and Development separates proposals from authorized work. The meter verification campaign is approved and in progress; the Sage Creek pad access improvement remains a proposal; the compressor overhaul is approved but has not started. Budget, schedule, owner, and approval date belong on milestones. A proposal may be evaluated, but its requested budget or target date is not evidence of expenditure or completion.</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Field Operations | 2026-09-26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What the client extract can show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proposed files are selective extracts from modeled operational registers through August 31, 2026. Reporting Mart can bring those copies together without changing a source system. The package can explain definitions, ownership, and recorded activity within that window. It cannot establish complete history, unrecorded field conditions, or companywide production from a selected well-day sample.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Field Operations | 2026-09-26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Record question for review</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If a recipient finds a pad label in a workbook but cannot tell which district owns it, first resolve the label against the location list. Then ask the named functional owner about the record itself. This prevents a production question from being treated as an asset-integrity question merely because both concern the same site.</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Field Operations | 2026-09-26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411480"/>
            <a:ext cx="10972800" cy="1051560"/>
          </a:xfrm>
          <a:prstGeom prst="rect">
            <a:avLst/>
          </a:prstGeom>
          <a:noFill/>
        </p:spPr>
        <p:txBody>
          <a:bodyPr wrap="square">
            <a:spAutoFit/>
          </a:bodyPr>
          <a:lstStyle/>
          <a:p>
            <a:pPr>
              <a:defRPr sz="2800" b="1"/>
            </a:pPr>
            <a:r>
              <a:t>Review action and handoff</a:t>
            </a:r>
          </a:p>
        </p:txBody>
      </p:sp>
      <p:sp>
        <p:nvSpPr>
          <p:cNvPr id="3" name="TextBox 2"/>
          <p:cNvSpPr txBox="1"/>
          <p:nvPr/>
        </p:nvSpPr>
        <p:spPr>
          <a:xfrm>
            <a:off x="685800" y="1554480"/>
            <a:ext cx="10789920" cy="4297680"/>
          </a:xfrm>
          <a:prstGeom prst="rect">
            <a:avLst/>
          </a:prstGeom>
          <a:noFill/>
        </p:spPr>
        <p:txBody>
          <a:bodyPr wrap="square">
            <a:spAutoFit/>
          </a:bodyPr>
          <a:lstStyle/>
          <a:p>
            <a:pPr>
              <a:spcAft>
                <a:spcPts val="1200"/>
              </a:spcAft>
              <a:defRPr sz="2100"/>
            </a:pPr>
            <a:r>
              <a:t>The immediate decision is who should answer each follow-up request. Route a measurement question to Production Accounting, a closeout question to Asset Integrity, and a proposed capital change to Projects and Development. Treat the asset listing as a point-in-time sample and request additional history before drawing conclusions about site trends.</a:t>
            </a:r>
          </a:p>
        </p:txBody>
      </p:sp>
      <p:sp>
        <p:nvSpPr>
          <p:cNvPr id="4" name="TextBox 3"/>
          <p:cNvSpPr txBox="1"/>
          <p:nvPr/>
        </p:nvSpPr>
        <p:spPr>
          <a:xfrm>
            <a:off x="640080" y="6263640"/>
            <a:ext cx="10972800" cy="274320"/>
          </a:xfrm>
          <a:prstGeom prst="rect">
            <a:avLst/>
          </a:prstGeom>
          <a:noFill/>
        </p:spPr>
        <p:txBody>
          <a:bodyPr wrap="none">
            <a:spAutoFit/>
          </a:bodyPr>
          <a:lstStyle/>
          <a:p>
            <a:pPr>
              <a:defRPr sz="1000"/>
            </a:pPr>
            <a:r>
              <a:t>Mesa Lantern Energy LLC | Field Operations | 2026-09-26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