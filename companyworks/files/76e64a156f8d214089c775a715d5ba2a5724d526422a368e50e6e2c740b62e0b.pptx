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Crews moved to Bayou in September; weather risk in November and December.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Bare Steel and Steel Service Replacement Program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Unprotected steel and steel service replacement program review, September 12, 2026. Targets, progress at August 31, leak performance and risks. Presented by Gas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Program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84 miles of unprotected steel main at the end of 2025, to be removed by the end of 2029. 2026 target: 22 miles of main and 2,400 steel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Progress at August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13.4 miles of unprotected steel main and 1,510 steel services replaced, 61% and 63% of the 2026 targets.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steel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Non-excavation leaks found in 2025 per 100 miles of main: unprotected steel 243, protected steel 75, polyethylene 20. By material: protected steel 876, polyethylene 761, unprotected steel 204, other plastic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Other plastic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4 miles of early-vintage plastic main. Few leaks in absolute terms, but the sample is too small to compare leak rates reliably.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2026 leaks to August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1,360 leaks found: 110 grade 1, 368 grade 2, 882 grade 3; 69 from excavation damage.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System inventory (year-end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4,980 miles of main: polyethylene 3,720, protected steel 1,172, unprotected steel 84, other plastic 4; 251,000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System inventory (year-end 2025) · extract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Measure: main_miles</a:t>
            </a:r>
          </a:p>
          <a:p>
            <a:pPr>
              <a:spcAft>
                <a:spcPts val="1200"/>
              </a:spcAft>
              <a:defRPr sz="2100"/>
            </a:pPr>
            <a:r>
              <a:t>Unit: miles</a:t>
            </a:r>
          </a:p>
          <a:p>
            <a:pPr>
              <a:spcAft>
                <a:spcPts val="1200"/>
              </a:spcAft>
              <a:defRPr sz="2100"/>
            </a:pPr>
            <a:r>
              <a:t>Total: 4980.0</a:t>
            </a:r>
          </a:p>
          <a:p>
            <a:pPr>
              <a:spcAft>
                <a:spcPts val="1200"/>
              </a:spcAft>
              <a:defRPr sz="2100"/>
            </a:pPr>
            <a:r>
              <a:t>Mean: 41.5</a:t>
            </a:r>
          </a:p>
          <a:p>
            <a:pPr>
              <a:spcAft>
                <a:spcPts val="1200"/>
              </a:spcAft>
              <a:defRPr sz="2100"/>
            </a:pPr>
            <a:r>
              <a:t>Records: 120</a:t>
            </a:r>
          </a:p>
          <a:p>
            <a:pPr>
              <a:spcAft>
                <a:spcPts val="1200"/>
              </a:spcAft>
              <a:defRPr sz="2100"/>
            </a:pPr>
            <a:r>
              <a:t>Period: 2025-12-31 to 2025-12-31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System inventory (year-end 2025) · extract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Measure: services</a:t>
            </a:r>
          </a:p>
          <a:p>
            <a:pPr>
              <a:spcAft>
                <a:spcPts val="1200"/>
              </a:spcAft>
              <a:defRPr sz="2100"/>
            </a:pPr>
            <a:r>
              <a:t>Unit: services</a:t>
            </a:r>
          </a:p>
          <a:p>
            <a:pPr>
              <a:spcAft>
                <a:spcPts val="1200"/>
              </a:spcAft>
              <a:defRPr sz="2100"/>
            </a:pPr>
            <a:r>
              <a:t>Total: 251000</a:t>
            </a:r>
          </a:p>
          <a:p>
            <a:pPr>
              <a:spcAft>
                <a:spcPts val="1200"/>
              </a:spcAft>
              <a:defRPr sz="2100"/>
            </a:pPr>
            <a:r>
              <a:t>Mean: 2091.6667</a:t>
            </a:r>
          </a:p>
          <a:p>
            <a:pPr>
              <a:spcAft>
                <a:spcPts val="1200"/>
              </a:spcAft>
              <a:defRPr sz="2100"/>
            </a:pPr>
            <a:r>
              <a:t>Records: 120</a:t>
            </a:r>
          </a:p>
          <a:p>
            <a:pPr>
              <a:spcAft>
                <a:spcPts val="1200"/>
              </a:spcAft>
              <a:defRPr sz="2100"/>
            </a:pPr>
            <a:r>
              <a:t>Period: 2025-12-31 to 2025-12-31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System inventory (year-end 2025) · extract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Measure: leaks_repaired_2025</a:t>
            </a:r>
          </a:p>
          <a:p>
            <a:pPr>
              <a:spcAft>
                <a:spcPts val="1200"/>
              </a:spcAft>
              <a:defRPr sz="2100"/>
            </a:pPr>
            <a:r>
              <a:t>Unit: leaks</a:t>
            </a:r>
          </a:p>
          <a:p>
            <a:pPr>
              <a:spcAft>
                <a:spcPts val="1200"/>
              </a:spcAft>
              <a:defRPr sz="2100"/>
            </a:pPr>
            <a:r>
              <a:t>Total: 914</a:t>
            </a:r>
          </a:p>
          <a:p>
            <a:pPr>
              <a:spcAft>
                <a:spcPts val="1200"/>
              </a:spcAft>
              <a:defRPr sz="2100"/>
            </a:pPr>
            <a:r>
              <a:t>Mean: 7.6167</a:t>
            </a:r>
          </a:p>
          <a:p>
            <a:pPr>
              <a:spcAft>
                <a:spcPts val="1200"/>
              </a:spcAft>
              <a:defRPr sz="2100"/>
            </a:pPr>
            <a:r>
              <a:t>Records: 120</a:t>
            </a:r>
          </a:p>
          <a:p>
            <a:pPr>
              <a:spcAft>
                <a:spcPts val="1200"/>
              </a:spcAft>
              <a:defRPr sz="2100"/>
            </a:pPr>
            <a:r>
              <a:t>Period: 2025-12-31 to 2025-12-31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Risk ranking and surveys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Corrosion on unprotected steel is the second-ranked DIMP threat after excavation damage. Outside business districts the federal minimum is one survey every five calendar years; we survey unprotected steel areas every three years until the steel is retired.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Funding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Gas pipe replacement is a $78 million capital program in 2026, recovered through annual interim rate adjustments.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Gas Engineering and Integrity | 2026-09-12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