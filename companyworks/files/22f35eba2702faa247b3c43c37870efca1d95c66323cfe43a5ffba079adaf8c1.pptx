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are from the May 31 data cut; June is not included.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Halvorsen to confirm or challenge this view with its own start-up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scenario moves database lock and topline by about the same number of months.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CANOPY-1 Enrollment Forecast Working Session with Halvorsen</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Working session between the Loblolly Ridge CANOPY-1 study team and Halvorsen project leadership, June 18, 2026. Purpose: agree a planning assumption for last participant randomized after slower-than-planned site activation in two countries. Data are from the May 31 cut.</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 2026-06-18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Where we are at May 31</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383 participants randomized (60% of the 640 target) from 827 screened, with 98 of 112 planned sites active. The baseline plan called for 438 randomized by this date. Randomizations were 19 in March, 33 in April and 27 in May.</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 2026-06-18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What the plan assumed</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FY2026 baseline has last participant randomized on December 31, 2026, database lock on June 4, 2027 and topline results on July 2, 2027. The study runs in 11 countries: the United States, Canada, Mexico, Argentina, Poland, Hungary, the Czech Republic, Spain, Germany, Bulgaria and Romania.</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 2026-06-18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The gap is concentrated in two countries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Site activation in Argentina and Germany has been slower than planned. The study team's current view is that regulatory and ethics start-up timelines in those two countries are the main cause.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 2026-06-18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Questions for Halvorsen</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Which remaining sites in Argentina and Germany have submission dates, and which are waiting on documents?</a:t>
            </a:r>
          </a:p>
          <a:p>
            <a:pPr>
              <a:spcAft>
                <a:spcPts val="1200"/>
              </a:spcAft>
              <a:defRPr sz="2100"/>
            </a:pPr>
            <a:r>
              <a:t> What start-up resource is assigned to each late country, and has it changed this year?</a:t>
            </a:r>
          </a:p>
          <a:p>
            <a:pPr>
              <a:spcAft>
                <a:spcPts val="1200"/>
              </a:spcAft>
              <a:defRPr sz="2100"/>
            </a:pPr>
            <a:r>
              <a:t> Which active sites are screening below plan, and why?</a:t>
            </a:r>
          </a:p>
          <a:p>
            <a:pPr>
              <a:spcAft>
                <a:spcPts val="1200"/>
              </a:spcAft>
              <a:defRPr sz="2100"/>
            </a:pPr>
            <a:r>
              <a:t> What would adding a country cost in time, sites and money?</a:t>
            </a:r>
          </a:p>
          <a:p>
            <a:pPr>
              <a:spcAft>
                <a:spcPts val="1200"/>
              </a:spcAft>
              <a:defRPr sz="2100"/>
            </a:pPr>
            <a:r>
              <a:t> How is Siteline recruitment support performing at the sites where it runs?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 2026-06-18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Three forecast scenarios from Halvorsen</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January 2027 last participant randomized: remaining Argentina and Germany sites activate by August and randomization returns to plan rates.</a:t>
            </a:r>
          </a:p>
          <a:p>
            <a:pPr>
              <a:spcAft>
                <a:spcPts val="1200"/>
              </a:spcAft>
              <a:defRPr sz="2100"/>
            </a:pPr>
            <a:r>
              <a:t> March 2027: late sites activate through the autumn, with added recruitment support.</a:t>
            </a:r>
          </a:p>
          <a:p>
            <a:pPr>
              <a:spcAft>
                <a:spcPts val="1200"/>
              </a:spcAft>
              <a:defRPr sz="2100"/>
            </a:pPr>
            <a:r>
              <a:t> May 2027: activation stays slow and randomization stays near the March to May rate.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 2026-06-18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For discussion</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Which scenario do we plan on, and which do we tell the program team?</a:t>
            </a:r>
          </a:p>
          <a:p>
            <a:pPr>
              <a:spcAft>
                <a:spcPts val="1200"/>
              </a:spcAft>
              <a:defRPr sz="2100"/>
            </a:pPr>
            <a:r>
              <a:t> Is adding a country worth the start-up time it needs?</a:t>
            </a:r>
          </a:p>
          <a:p>
            <a:pPr>
              <a:spcAft>
                <a:spcPts val="1200"/>
              </a:spcAft>
              <a:defRPr sz="2100"/>
            </a:pPr>
            <a:r>
              <a:t> What recruitment support can start in July?</a:t>
            </a:r>
          </a:p>
          <a:p>
            <a:pPr>
              <a:spcAft>
                <a:spcPts val="1200"/>
              </a:spcAft>
              <a:defRPr sz="2100"/>
            </a:pPr>
            <a:r>
              <a:t> What would we need to see by August to change the assumption?</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 2026-06-18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Agreements and owners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Plan on March 2027 for last participant randomized – study team and Halvorsen project leadership.</a:t>
            </a:r>
          </a:p>
          <a:p>
            <a:pPr>
              <a:spcAft>
                <a:spcPts val="1200"/>
              </a:spcAft>
              <a:defRPr sz="2100"/>
            </a:pPr>
            <a:r>
              <a:t> Add recruitment support at selected sites – Halvorsen, with Clinical Operations approval.</a:t>
            </a:r>
          </a:p>
          <a:p>
            <a:pPr>
              <a:spcAft>
                <a:spcPts val="1200"/>
              </a:spcAft>
              <a:defRPr sz="2100"/>
            </a:pPr>
            <a:r>
              <a:t> Decide by August whether to add a country, based on a costed proposal – Halvorsen to propose, Clinical Operations to decide.</a:t>
            </a:r>
          </a:p>
          <a:p>
            <a:pPr>
              <a:spcAft>
                <a:spcPts val="1200"/>
              </a:spcAft>
              <a:defRPr sz="2100"/>
            </a:pPr>
            <a:r>
              <a:t> Update the enrollment forecast in the monthly report from the June cut – Halvorsen.</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 2026-06-18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