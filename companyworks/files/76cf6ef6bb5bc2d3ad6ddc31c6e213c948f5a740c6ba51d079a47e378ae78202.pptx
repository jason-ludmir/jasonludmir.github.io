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customer_minutes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7616053.0</c:v>
                </c:pt>
                <c:pt idx="1">
                  <c:v>5410316.0</c:v>
                </c:pt>
                <c:pt idx="2">
                  <c:v>6195923.0</c:v>
                </c:pt>
                <c:pt idx="3">
                  <c:v>5699150.0</c:v>
                </c:pt>
                <c:pt idx="4">
                  <c:v>124623700.0</c:v>
                </c:pt>
                <c:pt idx="5">
                  <c:v>8488567.0</c:v>
                </c:pt>
                <c:pt idx="6">
                  <c:v>8472099.0</c:v>
                </c:pt>
                <c:pt idx="7">
                  <c:v>11033189.0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Indices exclude the May 19-22 major event, planned interruptions and outside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Prairie remains the outlier; long rural overhead feeders.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already have remediation plans;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Ownership of the Prairie actions moved to Reliability Engineering in August; tracker update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Reliability Council: Worst-Feeder Review,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Reliability Council, September 16, 2026. Worst-feeder review with January-August 2026 results. Presented by Reliability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Year to date: on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January-August 2026 SAIDI excluding major events: 84.0 minutes (83.3 same period 2025). SAIFI 0.830 (0.850). Full-year standards are 124 minutes and 1.28.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By district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SAIDI / SAIFI, January-August 2026:</a:t>
            </a:r>
          </a:p>
          <a:p>
            <a:pPr>
              <a:spcAft>
                <a:spcPts val="1200"/>
              </a:spcAft>
              <a:defRPr sz="2100"/>
            </a:pPr>
            <a:r>
              <a:t> Harbor 71.3 / 0.713</a:t>
            </a:r>
          </a:p>
          <a:p>
            <a:pPr>
              <a:spcAft>
                <a:spcPts val="1200"/>
              </a:spcAft>
              <a:defRPr sz="2100"/>
            </a:pPr>
            <a:r>
              <a:t> Crossroads 63.4 / 0.724</a:t>
            </a:r>
          </a:p>
          <a:p>
            <a:pPr>
              <a:spcAft>
                <a:spcPts val="1200"/>
              </a:spcAft>
              <a:defRPr sz="2100"/>
            </a:pPr>
            <a:r>
              <a:t> Bayou 88.5 / 0.896</a:t>
            </a:r>
          </a:p>
          <a:p>
            <a:pPr>
              <a:spcAft>
                <a:spcPts val="1200"/>
              </a:spcAft>
              <a:defRPr sz="2100"/>
            </a:pPr>
            <a:r>
              <a:t> Prairie 139.3 / 1.092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Customer minutes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All sustained interruptions in the 2026 extract, all classes. May is dominated by the wind event (463 interruptions, 132,152 customers, 116.6 million customer minutes).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Customer minutes by month · customer-minutes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2025 worst-feeder list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32 feeders: top 22 by SAIDI and top 22 by SAIFI (5% each, with overlap). 18 feeders were more than 200% above the feeder average in 2025. We screen against both the 300% rule text and the 200% statutory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Repeat worst feeders in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3 feeders on the 2025 list are again among the 22 highest-SAIDI feeders for January-August 2026 (excluding the May event):</a:t>
            </a:r>
          </a:p>
          <a:p>
            <a:pPr>
              <a:spcAft>
                <a:spcPts val="1200"/>
              </a:spcAft>
              <a:defRPr sz="2100"/>
            </a:pPr>
            <a:r>
              <a:t> BY-S29-05</a:t>
            </a:r>
          </a:p>
          <a:p>
            <a:pPr>
              <a:spcAft>
                <a:spcPts val="1200"/>
              </a:spcAft>
              <a:defRPr sz="2100"/>
            </a:pPr>
            <a:r>
              <a:t> PR-S02-02</a:t>
            </a:r>
          </a:p>
          <a:p>
            <a:pPr>
              <a:spcAft>
                <a:spcPts val="1200"/>
              </a:spcAft>
              <a:defRPr sz="2100"/>
            </a:pPr>
            <a:r>
              <a:t> PR-S03-04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Remediation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Each listed feeder gets a plan within 90 days: patrol and infrared scan, vegetation hot spots, fuse coordination, and reclosers or IGSD automation where needed. Prairie actions: owner shown as the Prairie district engineer in the tracker.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Automation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At August 31: 162 feeders with reclosers only, 134 with none, 102 with IGSD loops and 38 with full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Asks of the Council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Confirm IGSD automation for PR-S02-02 and PR-S03-04 in the 2027 plan.</a:t>
            </a:r>
          </a:p>
          <a:p>
            <a:pPr>
              <a:spcAft>
                <a:spcPts val="1200"/>
              </a:spcAft>
              <a:defRPr sz="2100"/>
            </a:pPr>
            <a:r>
              <a:t> Confirm the tracker owner for Prairie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Reliability Engineering and Performance | 2026-09-16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