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delivery_points</c:v>
                </c:pt>
              </c:strCache>
            </c:strRef>
          </c:tx>
          <c:cat>
            <c:strRef>
              <c:f>Sheet1!$A$2:$A$33</c:f>
              <c:strCache>
                <c:ptCount val="32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  <c:pt idx="30">
                  <c:v>2026-07</c:v>
                </c:pt>
                <c:pt idx="31">
                  <c:v>2026-08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658623</c:v>
                </c:pt>
                <c:pt idx="1">
                  <c:v>659464</c:v>
                </c:pt>
                <c:pt idx="2">
                  <c:v>660310</c:v>
                </c:pt>
                <c:pt idx="3">
                  <c:v>661154</c:v>
                </c:pt>
                <c:pt idx="4">
                  <c:v>662001</c:v>
                </c:pt>
                <c:pt idx="5">
                  <c:v>662850</c:v>
                </c:pt>
                <c:pt idx="6">
                  <c:v>663701</c:v>
                </c:pt>
                <c:pt idx="7">
                  <c:v>664554</c:v>
                </c:pt>
                <c:pt idx="8">
                  <c:v>665406</c:v>
                </c:pt>
                <c:pt idx="9">
                  <c:v>666262</c:v>
                </c:pt>
                <c:pt idx="10">
                  <c:v>667119</c:v>
                </c:pt>
                <c:pt idx="11">
                  <c:v>667977</c:v>
                </c:pt>
                <c:pt idx="12">
                  <c:v>668840</c:v>
                </c:pt>
                <c:pt idx="13">
                  <c:v>669701</c:v>
                </c:pt>
                <c:pt idx="14">
                  <c:v>670565</c:v>
                </c:pt>
                <c:pt idx="15">
                  <c:v>671431</c:v>
                </c:pt>
                <c:pt idx="16">
                  <c:v>672298</c:v>
                </c:pt>
                <c:pt idx="17">
                  <c:v>673168</c:v>
                </c:pt>
                <c:pt idx="18">
                  <c:v>674039</c:v>
                </c:pt>
                <c:pt idx="19">
                  <c:v>674912</c:v>
                </c:pt>
                <c:pt idx="20">
                  <c:v>675786</c:v>
                </c:pt>
                <c:pt idx="21">
                  <c:v>676663</c:v>
                </c:pt>
                <c:pt idx="22">
                  <c:v>677539</c:v>
                </c:pt>
                <c:pt idx="23">
                  <c:v>678420</c:v>
                </c:pt>
                <c:pt idx="24">
                  <c:v>679199</c:v>
                </c:pt>
                <c:pt idx="25">
                  <c:v>679978</c:v>
                </c:pt>
                <c:pt idx="26">
                  <c:v>680759</c:v>
                </c:pt>
                <c:pt idx="27">
                  <c:v>681541</c:v>
                </c:pt>
                <c:pt idx="28">
                  <c:v>682325</c:v>
                </c:pt>
                <c:pt idx="29">
                  <c:v>683110</c:v>
                </c:pt>
                <c:pt idx="30">
                  <c:v>684019</c:v>
                </c:pt>
                <c:pt idx="31">
                  <c:v>684930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Lender and Rating Agency Update,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Lender and rating agency update, September 24, 2026. Sedgewater Energy Holdings: business profile, growth, capital plan, cost recovery and recent events. Presented by the Chief Financial Officer.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Business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Privately owned by long-term infrastructure investors. Two regulated utilities: an ERCOT transmission and distribution service provider and a gas distribution utility. 2025 revenue: $936 million electric and $358 million gas (about $142 million gas cost pass-through).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Rate base and credit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Rate base at December 31, 2025: about $4.62 billion electric and $1.18 billion gas. Last electric order (March 2022): 9.60% ROE, 42.5% equity ratio. Sedgewater Electric Delivery senior secured debt rated A- and A3; both outlooks 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Customer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Delivery points up 1.5% from August 2025 to August 2026: 13,152 new service points in 2025 and 8,337 in January-August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Customer growth · delivery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Large-load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11 large-load requests of 20 MW or more totaling 1,905 MW at August 31 (10 active, 1,785 MW). In June 2026 the PUCT approved ERCOT's batch study process for large-load requests.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Capital outlook 2026-2030: about $6.10 billion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$1.12B in 2026, $1.18B in 2027, $1.24B in 2028, $1.26B in 2029 and $1.30B in 2030. About 83% electric and 14% gas; the rest shared IT and facilities.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Timely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Electric: base rates plus DCRF and TCOS updates; DCRF no more than twice a year. 2026: DCRF filed April 6 ($41.8M, effective July), second planned September 28 (about $23M); TCOS updates February 27 and August 28. Gas: interim adjustment filed March 27 ($11.2M on $86.4M of 2025 capital).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Resiliency and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2026-2028 Resiliency Plan approved October 2025: nine measures, about $612M capital and $41M O&amp;M. 2025 SAIDI 118.0 minutes and SAIFI 1.210, excluding major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May 2026 storm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Restoration cost estimated at $38.4M ($24.3M O&amp;M deferred as a regulatory asset; $14.1M capital). Below the $50M securitization threshold in effect since September 2025, so recovery is expected through rates.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Next electric rate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Sedgewater is evaluating the timing of its next electric base rate case; no filing date has been announced.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Treasury with FP&amp;A | 2026-09-24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