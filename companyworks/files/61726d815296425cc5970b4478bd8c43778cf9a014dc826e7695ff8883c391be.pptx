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project authorization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decision owners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work-order route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record linkage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coverage and missing values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what the client extract can show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this as a selected extract, not a company total.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Project portfolio status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dated status view of the meter verification campaign, Sage Creek pad access proposal, and planned compressor overhaul. This draft is prepared for capital planning group as part of Mesa Lantern Energy's initial information handoff. It describes the modeled operation at the stated date and should be read with the period and coverage of its supporting records.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Purpose and immediate use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three items sit at different authorization stages. Meter verification is approved and underway. Sage Creek access is still a proposal and should retain its requested scope and decision date as such. The compressor overhaul has approval but no start. A milestone sheet should make planned and actual dates separate, and leave actual completion empty until verified.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Project authorization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Projects and Development separates proposals from authorized work. The meter verification campaign is approved and in progress; the Sage Creek pad access improvement remains a proposal; the compressor overhaul is approved but has not started. Budget, schedule, owner, and approval date belong on milestones. A proposal may be evaluated, but its requested budget or target date is not evidence of expenditure or completion.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 owners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Operations is led by Avery Collins. Robin Vega is accountable for production accounting, Morgan Hale for asset integrity, Taylor Kim for development projects, and Casey Nolan for supply and contractor records. These assignments identify who can explain a record or approve a correction. They do not imply that one person performs every underlying field task or that another team may change a source record without its owner.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Work-order route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field request is tied to an asset and location. The integrity lead prioritizes it, and a supervisor confirms isolation and contractor readiness where needed. Completion is not inferred from a planned date: closeout requires a completion date, downtime record, and verifier. That sequence supports a distinction between an open request, work in progress, and a verified closed order.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linkage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Synthetic well, asset, location, vendor, work-order, and project keys connect the proposed datasets. Business users should see natural asset and project names where possible, while the keys preserve joins across extracts. A linked inspection and work order should refer to the same asset instance and location. A record without a valid link should be flagged for review rather than attached to the nearest plausible item.</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Coverage and missing values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extracts end on August 31, 2026. Production rows represent selected well-days, about 32 of 118 modeled wells per day on average, so their sums are not companywide production totals. Some meter or downtime values may be null, with a reason where available. A missing value is excluded from a numeric calculation and must never be silently treated as zero.</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What the client extract can show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files are selective extracts from modeled operational registers through August 31, 2026. Reporting Mart can bring those copies together without changing a source system. The package can explain definitions, ownership, and recorded activity within that window. It cannot establish complete history, unrecorded field conditions, or companywide production from a selected well-day sample.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question for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Ask which single milestone would demonstrate the next status change for each project. Meter verification needs evidence of progress, Sage Creek needs an authorization decision, and the compressor overhaul needs a supported start. The same percentage-complete field cannot stand in for all three decisions.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action and handoff</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review should resolve ownership and next evidence needed for each item, rather than rolling requested budgets into spent capital. If a project changes stage after this deck, issue a dated revision so the old view remains interpretable.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accompanying summary is calculated from the selected records in this extract. Read its period, contributing-record count, and units before comparing values. It does not substitute for the record-level definitions and coverage limitations described above.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budget_usd</a:t>
            </a:r>
          </a:p>
          <a:p>
            <a:pPr>
              <a:spcAft>
                <a:spcPts val="1200"/>
              </a:spcAft>
              <a:defRPr sz="2100"/>
            </a:pPr>
            <a:r>
              <a:t>Unit: USD</a:t>
            </a:r>
          </a:p>
          <a:p>
            <a:pPr>
              <a:spcAft>
                <a:spcPts val="1200"/>
              </a:spcAft>
              <a:defRPr sz="2100"/>
            </a:pPr>
            <a:r>
              <a:t>Total: 107876511.86</a:t>
            </a:r>
          </a:p>
          <a:p>
            <a:pPr>
              <a:spcAft>
                <a:spcPts val="1200"/>
              </a:spcAft>
              <a:defRPr sz="2100"/>
            </a:pPr>
            <a:r>
              <a:t>Mean: 2397255.8191</a:t>
            </a:r>
          </a:p>
          <a:p>
            <a:pPr>
              <a:spcAft>
                <a:spcPts val="1200"/>
              </a:spcAft>
              <a:defRPr sz="2100"/>
            </a:pPr>
            <a:r>
              <a:t>Records: 45</a:t>
            </a:r>
          </a:p>
          <a:p>
            <a:pPr>
              <a:spcAft>
                <a:spcPts val="1200"/>
              </a:spcAft>
              <a:defRPr sz="2100"/>
            </a:pPr>
            <a:r>
              <a:t>Period: 2026-08-31 to 2026-08-31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percent_complete</a:t>
            </a:r>
          </a:p>
          <a:p>
            <a:pPr>
              <a:spcAft>
                <a:spcPts val="1200"/>
              </a:spcAft>
              <a:defRPr sz="2100"/>
            </a:pPr>
            <a:r>
              <a:t>Unit: percent</a:t>
            </a:r>
          </a:p>
          <a:p>
            <a:pPr>
              <a:spcAft>
                <a:spcPts val="1200"/>
              </a:spcAft>
              <a:defRPr sz="2100"/>
            </a:pPr>
            <a:r>
              <a:t>Total: 2540.74</a:t>
            </a:r>
          </a:p>
          <a:p>
            <a:pPr>
              <a:spcAft>
                <a:spcPts val="1200"/>
              </a:spcAft>
              <a:defRPr sz="2100"/>
            </a:pPr>
            <a:r>
              <a:t>Mean: 56.4609</a:t>
            </a:r>
          </a:p>
          <a:p>
            <a:pPr>
              <a:spcAft>
                <a:spcPts val="1200"/>
              </a:spcAft>
              <a:defRPr sz="2100"/>
            </a:pPr>
            <a:r>
              <a:t>Records: 45</a:t>
            </a:r>
          </a:p>
          <a:p>
            <a:pPr>
              <a:spcAft>
                <a:spcPts val="1200"/>
              </a:spcAft>
              <a:defRPr sz="2100"/>
            </a:pPr>
            <a:r>
              <a:t>Period: 2026-08-31 to 2026-08-31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Projects and Development | 2026-09-26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