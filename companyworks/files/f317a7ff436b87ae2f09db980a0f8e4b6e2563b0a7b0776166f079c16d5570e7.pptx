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participants_randomized_new</c:v>
                </c:pt>
              </c:strCache>
            </c:strRef>
          </c:tx>
          <c:cat>
            <c:strRef>
              <c:f>Sheet1!$A$2:$A$24</c:f>
              <c:strCache>
                <c:ptCount val="23"/>
                <c:pt idx="0">
                  <c:v>2024-10</c:v>
                </c:pt>
                <c:pt idx="1">
                  <c:v>2024-11</c:v>
                </c:pt>
                <c:pt idx="2">
                  <c:v>2024-12</c:v>
                </c:pt>
                <c:pt idx="3">
                  <c:v>2025-01</c:v>
                </c:pt>
                <c:pt idx="4">
                  <c:v>2025-02</c:v>
                </c:pt>
                <c:pt idx="5">
                  <c:v>2025-03</c:v>
                </c:pt>
                <c:pt idx="6">
                  <c:v>2025-04</c:v>
                </c:pt>
                <c:pt idx="7">
                  <c:v>2025-05</c:v>
                </c:pt>
                <c:pt idx="8">
                  <c:v>2025-06</c:v>
                </c:pt>
                <c:pt idx="9">
                  <c:v>2025-07</c:v>
                </c:pt>
                <c:pt idx="10">
                  <c:v>2025-08</c:v>
                </c:pt>
                <c:pt idx="11">
                  <c:v>2025-09</c:v>
                </c:pt>
                <c:pt idx="12">
                  <c:v>2025-10</c:v>
                </c:pt>
                <c:pt idx="13">
                  <c:v>2025-11</c:v>
                </c:pt>
                <c:pt idx="14">
                  <c:v>2025-12</c:v>
                </c:pt>
                <c:pt idx="15">
                  <c:v>2026-01</c:v>
                </c:pt>
                <c:pt idx="16">
                  <c:v>2026-02</c:v>
                </c:pt>
                <c:pt idx="17">
                  <c:v>2026-03</c:v>
                </c:pt>
                <c:pt idx="18">
                  <c:v>2026-04</c:v>
                </c:pt>
                <c:pt idx="19">
                  <c:v>2026-05</c:v>
                </c:pt>
                <c:pt idx="20">
                  <c:v>2026-06</c:v>
                </c:pt>
                <c:pt idx="21">
                  <c:v>2026-07</c:v>
                </c:pt>
                <c:pt idx="22">
                  <c:v>2026-08</c:v>
                </c:pt>
              </c:strCache>
            </c:strRef>
          </c:cat>
          <c:val>
            <c:numRef>
              <c:f>Sheet1!$B$2:$B$24</c:f>
              <c:numCache>
                <c:formatCode>General</c:formatCode>
                <c:ptCount val="23"/>
                <c:pt idx="0">
                  <c:v>0</c:v>
                </c:pt>
                <c:pt idx="1">
                  <c:v>2</c:v>
                </c:pt>
                <c:pt idx="2">
                  <c:v>2</c:v>
                </c:pt>
                <c:pt idx="3">
                  <c:v>3</c:v>
                </c:pt>
                <c:pt idx="4">
                  <c:v>11</c:v>
                </c:pt>
                <c:pt idx="5">
                  <c:v>14</c:v>
                </c:pt>
                <c:pt idx="6">
                  <c:v>22</c:v>
                </c:pt>
                <c:pt idx="7">
                  <c:v>16</c:v>
                </c:pt>
                <c:pt idx="8">
                  <c:v>32</c:v>
                </c:pt>
                <c:pt idx="9">
                  <c:v>34</c:v>
                </c:pt>
                <c:pt idx="10">
                  <c:v>26</c:v>
                </c:pt>
                <c:pt idx="11">
                  <c:v>19</c:v>
                </c:pt>
                <c:pt idx="12">
                  <c:v>26</c:v>
                </c:pt>
                <c:pt idx="13">
                  <c:v>23</c:v>
                </c:pt>
                <c:pt idx="14">
                  <c:v>18</c:v>
                </c:pt>
                <c:pt idx="15">
                  <c:v>22</c:v>
                </c:pt>
                <c:pt idx="16">
                  <c:v>34</c:v>
                </c:pt>
                <c:pt idx="17">
                  <c:v>19</c:v>
                </c:pt>
                <c:pt idx="18">
                  <c:v>33</c:v>
                </c:pt>
                <c:pt idx="19">
                  <c:v>27</c:v>
                </c:pt>
                <c:pt idx="20">
                  <c:v>37</c:v>
                </c:pt>
                <c:pt idx="21">
                  <c:v>29</c:v>
                </c:pt>
                <c:pt idx="22">
                  <c:v>18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walking through the three June agreements before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August is partly holiday-season in Europe; September will show whether the drop persists.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CANOPY-1 Program Team Checkpoint — September 2026</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LRT-1107 program team checkpoint, September 8, 2026, for the program team and the Chief Development Officer. It checks progress against the June commitments, reviews enrollment through August, sets out proposed change order 4 and lists what is still open before the October board meeting.</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June commitments: where they stand</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Plan on March 2027 for last participant randomized: the CRO forecast is March 16, 2027.</a:t>
            </a:r>
          </a:p>
          <a:p>
            <a:pPr>
              <a:spcAft>
                <a:spcPts val="1200"/>
              </a:spcAft>
              <a:defRPr sz="2100"/>
            </a:pPr>
            <a:r>
              <a:t> Add recruitment support at selected sites: in place.</a:t>
            </a:r>
          </a:p>
          <a:p>
            <a:pPr>
              <a:spcAft>
                <a:spcPts val="1200"/>
              </a:spcAft>
              <a:defRPr sz="2100"/>
            </a:pPr>
            <a:r>
              <a:t> Decide on adding a country by August: change order 4 was proposed on August 21 and goes to the board on October 8.</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Enrollment through August</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By August 31: 1,005 screened, 467 randomized (73% of 640) and 104 of 112 planned sites active. The September 2024 baseline plan called for 524 randomized by this date, a gap of 57. The chart shows randomizations by month since the first sites opened.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Enrollment through August · participants</a:t>
            </a:r>
          </a:p>
        </p:txBody>
      </p:sp>
      <p:sp>
        <p:nvSpPr>
          <p:cNvPr id="3" name="TextBox 2"/>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4</a:t>
            </a:r>
          </a:p>
        </p:txBody>
      </p:sp>
      <p:graphicFrame>
        <p:nvGraphicFramePr>
          <p:cNvPr id="4" name="Chart 3"/>
          <p:cNvGraphicFramePr>
            <a:graphicFrameLocks noGrp="1"/>
          </p:cNvGraphicFramePr>
          <p:nvPr/>
        </p:nvGraphicFramePr>
        <p:xfrm>
          <a:off x="731520" y="1554480"/>
          <a:ext cx="10515600" cy="429768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The monthly rate has fallen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June 37, July 29, August 18: an average of 28 a month, or about 0.28 per active site per month. At that rate the remaining 173 randomizations take about 6.2 months from September. The CRO's March 16 forecast assumes about 27 a month once the added country opens, above the August rate.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By region and late countries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Randomized through August: Europe 205, North America 194, Latin America 68. Argentina has 6 of 9 planned sites active and Germany 5 of 8.</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Change order 4</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Adds one country with six planned sites and extends CRO services by about three months. Value: $3.72 million in services plus an estimated $2.38 million in pass-through. Because the total including pass-through is $5 million or more, the board must approve it; it is on the October 8 agenda. The first site in the added country is planned for December.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Timeline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Forecast: last participant randomized March 16, 2027; last participant last visit July 6, 2027; database lock August 17, 2027; topline results September 14, 2027. The FY2026 baseline had last participant randomized on December 31, 2026 and topline on July 2, 2027.</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Other operating points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DSMB: next review October 14, 2026.</a:t>
            </a:r>
          </a:p>
          <a:p>
            <a:pPr>
              <a:spcAft>
                <a:spcPts val="1200"/>
              </a:spcAft>
              <a:defRPr sz="2100"/>
            </a:pPr>
            <a:r>
              <a:t> CANOPY-OLE: enrolling since June 11, 2026.</a:t>
            </a:r>
          </a:p>
          <a:p>
            <a:pPr>
              <a:spcAft>
                <a:spcPts val="1200"/>
              </a:spcAft>
              <a:defRPr sz="2100"/>
            </a:pPr>
            <a:r>
              <a:t> Central lab transfers moved to weekly in June; the transfer specification has not yet been reissued.</a:t>
            </a:r>
          </a:p>
          <a:p>
            <a:pPr>
              <a:spcAft>
                <a:spcPts val="1200"/>
              </a:spcAft>
              <a:defRPr sz="2100"/>
            </a:pPr>
            <a:r>
              <a:t> Supply: at least six months of forecast demand held as safety stock; no site has run out of study drug.</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Still open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Whether to add sites in existing countries as well as the new country.</a:t>
            </a:r>
          </a:p>
          <a:p>
            <a:pPr>
              <a:spcAft>
                <a:spcPts val="1200"/>
              </a:spcAft>
              <a:defRPr sz="2100"/>
            </a:pPr>
            <a:r>
              <a:t> Database-lock readiness checklist: in progress with Biometrics and Halvorsen data management.</a:t>
            </a:r>
          </a:p>
          <a:p>
            <a:pPr>
              <a:spcAft>
                <a:spcPts val="1200"/>
              </a:spcAft>
              <a:defRPr sz="2100"/>
            </a:pPr>
            <a:r>
              <a:t> Owner and date for reissuing the transfer specification.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Next milestones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75% of target randomized – forecast late September.</a:t>
            </a:r>
          </a:p>
          <a:p>
            <a:pPr>
              <a:spcAft>
                <a:spcPts val="1200"/>
              </a:spcAft>
              <a:defRPr sz="2100"/>
            </a:pPr>
            <a:r>
              <a:t> Board decision on change order 4 – October 8.</a:t>
            </a:r>
          </a:p>
          <a:p>
            <a:pPr>
              <a:spcAft>
                <a:spcPts val="1200"/>
              </a:spcAft>
              <a:defRPr sz="2100"/>
            </a:pPr>
            <a:r>
              <a:t> DSMB review – October 14.</a:t>
            </a:r>
          </a:p>
          <a:p>
            <a:pPr>
              <a:spcAft>
                <a:spcPts val="1200"/>
              </a:spcAft>
              <a:defRPr sz="2100"/>
            </a:pPr>
            <a:r>
              <a:t> CRO business review – October 21.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Loblolly Ridge Therapeutics | LRT-1107 Program Team | 2026-09-08 |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