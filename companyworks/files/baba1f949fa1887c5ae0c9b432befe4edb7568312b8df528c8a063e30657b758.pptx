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capital_usd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11463297.32</c:v>
                </c:pt>
                <c:pt idx="1">
                  <c:v>12380970.94</c:v>
                </c:pt>
                <c:pt idx="2">
                  <c:v>12534801.7</c:v>
                </c:pt>
                <c:pt idx="3">
                  <c:v>13064998.38</c:v>
                </c:pt>
                <c:pt idx="4">
                  <c:v>12636961.33</c:v>
                </c:pt>
                <c:pt idx="5">
                  <c:v>14355252.35</c:v>
                </c:pt>
                <c:pt idx="6">
                  <c:v>15897110.91</c:v>
                </c:pt>
                <c:pt idx="7">
                  <c:v>16666607.07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Asking the steering group to accept the lower 2026 undergrounding forecast and re-phase miles into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Resiliency Plan Year 1 Checkpoint: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Resiliency Plan year 1 checkpoint, September 17, 2026. Progress, spend and issues for the nine approved measures at August 31, 2026. Presented by the Resiliency Program Manager.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Approved by the PUCT on October 23, 2025: nine measures, about $612 million of capital and $41 million of O&amp;M over 2026-2028. We filed on April 28, 2025 proposing about $890 million; the approved plan removed two measures and reduced undergrounding.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Progress: poles, trimming, automation, undergrounding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Units completed against 2026 targets at August 31 (units differ by measure):</a:t>
            </a:r>
          </a:p>
          <a:p>
            <a:pPr>
              <a:spcAft>
                <a:spcPts val="1200"/>
              </a:spcAft>
              <a:defRPr sz="2100"/>
            </a:pPr>
            <a:r>
              <a:t> Pole replacement and bracing: 3,020 of 4,200 poles</a:t>
            </a:r>
          </a:p>
          <a:p>
            <a:pPr>
              <a:spcAft>
                <a:spcPts val="1200"/>
              </a:spcAft>
              <a:defRPr sz="2100"/>
            </a:pPr>
            <a:r>
              <a:t> Vegetation cycle acceleration: 188.6 of 330 circuit miles</a:t>
            </a:r>
          </a:p>
          <a:p>
            <a:pPr>
              <a:spcAft>
                <a:spcPts val="1200"/>
              </a:spcAft>
              <a:defRPr sz="2100"/>
            </a:pPr>
            <a:r>
              <a:t> Feeder automation (IGSD): 115 of 180 devices</a:t>
            </a:r>
          </a:p>
          <a:p>
            <a:pPr>
              <a:spcAft>
                <a:spcPts val="1200"/>
              </a:spcAft>
              <a:defRPr sz="2100"/>
            </a:pPr>
            <a:r>
              <a:t> Strategic undergrounding: 8 of 21 circuit miles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Progress: substations, cable, transmission,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Substation flood mitigation: 0 of 2 substations (both in construction)</a:t>
            </a:r>
          </a:p>
          <a:p>
            <a:pPr>
              <a:spcAft>
                <a:spcPts val="1200"/>
              </a:spcAft>
              <a:defRPr sz="2100"/>
            </a:pPr>
            <a:r>
              <a:t> URD cable replacement: 26 of 38 cable miles</a:t>
            </a:r>
          </a:p>
          <a:p>
            <a:pPr>
              <a:spcAft>
                <a:spcPts val="1200"/>
              </a:spcAft>
              <a:defRPr sz="2100"/>
            </a:pPr>
            <a:r>
              <a:t> Transmission structure hardening: 84 of 160 structures</a:t>
            </a:r>
          </a:p>
          <a:p>
            <a:pPr>
              <a:spcAft>
                <a:spcPts val="1200"/>
              </a:spcAft>
              <a:defRPr sz="2100"/>
            </a:pPr>
            <a:r>
              <a:t> Weather stations and damage model: 14 of 14 stations</a:t>
            </a:r>
          </a:p>
          <a:p>
            <a:pPr>
              <a:spcAft>
                <a:spcPts val="1200"/>
              </a:spcAft>
              <a:defRPr sz="2100"/>
            </a:pPr>
            <a:r>
              <a:t> Substation physical security: 1 of 4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January-August: $109.0 million of capital and $3.37 million of O&amp;M. 2026 capital budget $196 million; forecast $180 million, mainly because undergrounding is forecast at $26 million against $42 million.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Monthly resiliency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Capital recorded against the nine measures by month, January-August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Monthly resiliency capital · USD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Issue: undergrounding behind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Permitting and design took longer than assumed, and two projects were re-scoped to shorter crossings in July. Those two now show forecast in-service dates earlier than baseline because of the smaller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Vegetation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In-scope Bayou and Prairie feeders move to a three-year cycle. 188.6 of 330 acceleration miles and 1,740.9 of 2,650 cycle miles done or in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Reporting and next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First-half progress report filed June 26, 2026; second-half report due December 31. The PUCT must decide a complete plan within 180 days, and an updated plan cannot take effect earlier than three years after the prior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Resiliency Program Office | 2026-09-17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