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daily field-to-ledger path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production stream definitions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monthly close boundary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adjustment lineage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production measure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coverage and missing values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this as a selected extract, not a company total.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Production review and period close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period-close briefing on how selected well-day readings become reviewed production entries and how later changes are identified. This draft is prepared for operations review group as part of Mesa Lantern Energy's initial information handoff. It describes the modeled operation at the stated date and should be read with the period and coverage of its supporting records.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Purpose and immediate use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review should distinguish a field reading, a meter comparison, a posted daily value, and a frozen month. Each step has a different status and may appear in a different extract. When a correction is discussed, point to its original entry, revised value, date, and reason. Do not put the same day into both an original and restated month total.</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Daily field-to-ledger path</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operators enter well readings in Field Log by the next morning. Production Accounting compares those entries with Meter Historian readings, records exceptions, and posts reviewed values to Production Ledger. A correction preserves the first entry and a reason for the change. The review path matters because a later extract should be traceable to the reading and decision that produced it.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Production stream definitions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modeled field ledger holds oil, including lease condensate, in stock tank barrels and raw gas in thousand cubic feet at its measurement point. The internal barrel-of-oil-equivalent view uses six Mcf of gas for one boe. That ratio is a reporting conversion only; it does not make gas and oil economically or energetically identical. Processed natural gas liquids are not attributed to individual wells in this extract.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Monthly close boundary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Production Accounting freezes the monthly reporting snapshot on the tenth business day after month end. Changes after that point use a dated adjustment record rather than overwriting the frozen view. A reader comparing two months must therefore distinguish the original close from a later restatement view. The reporting period and extraction date are both necessary to interpret a number.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Adjustment lineage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production adjustment points back to the original daily record, names the stream being corrected, and keeps both original and revised values with a posting date and reason. Adjustments posted after the monthly freeze belong to a restatement view. Analysts should not add both the original and revised quantity when preparing a summary; they should select a declared version of the record.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Production measure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For a reviewed well-day, internal boe is oil barrels plus raw gas Mcf divided by six. A month total sums the included reviewed daily records; an average daily rate divides by calendar days and must be paired with a coverage indicator. Because this pilot extract samples well-days, neither its total nor its average can be presented as Mesa Lantern's full operated production without an explicit coverage method.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Coverage and missing values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extracts end on August 31, 2026. Production rows represent selected well-days, about 32 of 118 modeled wells per day on average, so their sums are not companywide production totals. Some meter or downtime values may be null, with a reason where available. A missing value is excluded from a numeric calculation and must never be silently treated as zero.</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question for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Take a well-day that has a later adjustment. In the meeting, identify the first reading, the accepted entry, the monthly snapshot date, and the adjustment posting date. The exercise shows whether two displayed figures are different versions of one observation or genuinely different reporting periods.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Review action and handoff</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Use any chart only as a view of the selected records. The extract covers a changing subset of modeled wells, so its volume line is not a companywide production trend. Ask whether differences arise from coverage, revisions, or real changes before using them in a management summary.</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accompanying summary is calculated from the selected records in this extract. Read its period, contributing-record count, and units before comparing values. It does not substitute for the record-level definitions and coverage limitations described above.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oil_bbl</a:t>
            </a:r>
          </a:p>
          <a:p>
            <a:pPr>
              <a:spcAft>
                <a:spcPts val="1200"/>
              </a:spcAft>
              <a:defRPr sz="2100"/>
            </a:pPr>
            <a:r>
              <a:t>Unit: bbl</a:t>
            </a:r>
          </a:p>
          <a:p>
            <a:pPr>
              <a:spcAft>
                <a:spcPts val="1200"/>
              </a:spcAft>
              <a:defRPr sz="2100"/>
            </a:pPr>
            <a:r>
              <a:t>Total: 1897172.35</a:t>
            </a:r>
          </a:p>
          <a:p>
            <a:pPr>
              <a:spcAft>
                <a:spcPts val="1200"/>
              </a:spcAft>
              <a:defRPr sz="2100"/>
            </a:pPr>
            <a:r>
              <a:t>Mean: 251.148</a:t>
            </a:r>
          </a:p>
          <a:p>
            <a:pPr>
              <a:spcAft>
                <a:spcPts val="1200"/>
              </a:spcAft>
              <a:defRPr sz="2100"/>
            </a:pPr>
            <a:r>
              <a:t>Records: 7554</a:t>
            </a:r>
          </a:p>
          <a:p>
            <a:pPr>
              <a:spcAft>
                <a:spcPts val="1200"/>
              </a:spcAft>
              <a:defRPr sz="2100"/>
            </a:pPr>
            <a:r>
              <a:t>Period: 2026-01-01 to 2026-08-31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Companion extract summary · extract summary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Measure: raw_gas_mcf</a:t>
            </a:r>
          </a:p>
          <a:p>
            <a:pPr>
              <a:spcAft>
                <a:spcPts val="1200"/>
              </a:spcAft>
              <a:defRPr sz="2100"/>
            </a:pPr>
            <a:r>
              <a:t>Unit: Mcf</a:t>
            </a:r>
          </a:p>
          <a:p>
            <a:pPr>
              <a:spcAft>
                <a:spcPts val="1200"/>
              </a:spcAft>
              <a:defRPr sz="2100"/>
            </a:pPr>
            <a:r>
              <a:t>Total: 11407916.6</a:t>
            </a:r>
          </a:p>
          <a:p>
            <a:pPr>
              <a:spcAft>
                <a:spcPts val="1200"/>
              </a:spcAft>
              <a:defRPr sz="2100"/>
            </a:pPr>
            <a:r>
              <a:t>Mean: 1506.9903</a:t>
            </a:r>
          </a:p>
          <a:p>
            <a:pPr>
              <a:spcAft>
                <a:spcPts val="1200"/>
              </a:spcAft>
              <a:defRPr sz="2100"/>
            </a:pPr>
            <a:r>
              <a:t>Records: 7570</a:t>
            </a:r>
          </a:p>
          <a:p>
            <a:pPr>
              <a:spcAft>
                <a:spcPts val="1200"/>
              </a:spcAft>
              <a:defRPr sz="2100"/>
            </a:pPr>
            <a:r>
              <a:t>Period: 2026-01-01 to 2026-08-31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Production Accounting | 2026-09-26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